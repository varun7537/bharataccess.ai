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67" r:id="rId5"/>
    <p:sldId id="268" r:id="rId6"/>
    <p:sldId id="259" r:id="rId7"/>
    <p:sldId id="260" r:id="rId8"/>
    <p:sldId id="261" r:id="rId9"/>
    <p:sldId id="262" r:id="rId10"/>
    <p:sldId id="263" r:id="rId11"/>
    <p:sldId id="264" r:id="rId12"/>
    <p:sldId id="265" r:id="rId13"/>
    <p:sldId id="269" r:id="rId14"/>
    <p:sldId id="266" r:id="rId15"/>
  </p:sldIdLst>
  <p:sldSz cx="9144000" cy="5143500" type="screen16x9"/>
  <p:notesSz cx="6858000" cy="9144000"/>
  <p:embeddedFontLst>
    <p:embeddedFont>
      <p:font typeface="Manrope" panose="020B0604020202020204" charset="0"/>
      <p:regular r:id="rId17"/>
      <p:bold r:id="rId18"/>
    </p:embeddedFont>
    <p:embeddedFont>
      <p:font typeface="Manrope SemiBold"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B3AB1D54-DD48-B37F-5901-B000BC9E9D95}"/>
            </a:ext>
          </a:extLst>
        </p:cNvPr>
        <p:cNvGrpSpPr/>
        <p:nvPr/>
      </p:nvGrpSpPr>
      <p:grpSpPr>
        <a:xfrm>
          <a:off x="0" y="0"/>
          <a:ext cx="0" cy="0"/>
          <a:chOff x="0" y="0"/>
          <a:chExt cx="0" cy="0"/>
        </a:xfrm>
      </p:grpSpPr>
      <p:sp>
        <p:nvSpPr>
          <p:cNvPr id="65" name="Google Shape;65;g3b6c7e62156_0_13:notes">
            <a:extLst>
              <a:ext uri="{FF2B5EF4-FFF2-40B4-BE49-F238E27FC236}">
                <a16:creationId xmlns:a16="http://schemas.microsoft.com/office/drawing/2014/main" id="{D089AE6F-FBCB-DE4F-0F44-597B97AFEF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a:extLst>
              <a:ext uri="{FF2B5EF4-FFF2-40B4-BE49-F238E27FC236}">
                <a16:creationId xmlns:a16="http://schemas.microsoft.com/office/drawing/2014/main" id="{807A1A93-9936-0A22-AB08-F5FB2C92D7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9318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ACB08F6C-0F0B-DA4C-F510-99F9E40EE589}"/>
            </a:ext>
          </a:extLst>
        </p:cNvPr>
        <p:cNvGrpSpPr/>
        <p:nvPr/>
      </p:nvGrpSpPr>
      <p:grpSpPr>
        <a:xfrm>
          <a:off x="0" y="0"/>
          <a:ext cx="0" cy="0"/>
          <a:chOff x="0" y="0"/>
          <a:chExt cx="0" cy="0"/>
        </a:xfrm>
      </p:grpSpPr>
      <p:sp>
        <p:nvSpPr>
          <p:cNvPr id="65" name="Google Shape;65;g3b6c7e62156_0_13:notes">
            <a:extLst>
              <a:ext uri="{FF2B5EF4-FFF2-40B4-BE49-F238E27FC236}">
                <a16:creationId xmlns:a16="http://schemas.microsoft.com/office/drawing/2014/main" id="{60709B57-E051-CEB3-6CB1-05B5E8689A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a:extLst>
              <a:ext uri="{FF2B5EF4-FFF2-40B4-BE49-F238E27FC236}">
                <a16:creationId xmlns:a16="http://schemas.microsoft.com/office/drawing/2014/main" id="{5FEC9D82-FAEB-00C0-FBB1-EE80514E7B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0774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F99041A-0DD1-5EC4-92B9-B588CC7E8C7F}"/>
            </a:ext>
          </a:extLst>
        </p:cNvPr>
        <p:cNvGrpSpPr/>
        <p:nvPr/>
      </p:nvGrpSpPr>
      <p:grpSpPr>
        <a:xfrm>
          <a:off x="0" y="0"/>
          <a:ext cx="0" cy="0"/>
          <a:chOff x="0" y="0"/>
          <a:chExt cx="0" cy="0"/>
        </a:xfrm>
      </p:grpSpPr>
      <p:sp>
        <p:nvSpPr>
          <p:cNvPr id="107" name="Google Shape;107;g3b6c7e62156_0_48:notes">
            <a:extLst>
              <a:ext uri="{FF2B5EF4-FFF2-40B4-BE49-F238E27FC236}">
                <a16:creationId xmlns:a16="http://schemas.microsoft.com/office/drawing/2014/main" id="{5301DDE6-F547-CF1D-C520-148D688B2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a:extLst>
              <a:ext uri="{FF2B5EF4-FFF2-40B4-BE49-F238E27FC236}">
                <a16:creationId xmlns:a16="http://schemas.microsoft.com/office/drawing/2014/main" id="{2FBD048A-51B6-E163-5EA3-CEC65441DA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3581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a:t>
            </a:r>
            <a:r>
              <a:rPr lang="en-GB" sz="1600" dirty="0" err="1">
                <a:solidFill>
                  <a:srgbClr val="202729"/>
                </a:solidFill>
                <a:latin typeface="Manrope SemiBold"/>
                <a:ea typeface="Manrope SemiBold"/>
                <a:cs typeface="Manrope SemiBold"/>
                <a:sym typeface="Manrope SemiBold"/>
              </a:rPr>
              <a:t>ByteBlaze</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63" y="4246704"/>
            <a:ext cx="8520600" cy="766759"/>
          </a:xfrm>
          <a:prstGeom prst="rect">
            <a:avLst/>
          </a:prstGeom>
          <a:noFill/>
          <a:ln>
            <a:noFill/>
          </a:ln>
        </p:spPr>
        <p:txBody>
          <a:bodyPr spcFirstLastPara="1" wrap="square" lIns="91425" tIns="91425" rIns="91425" bIns="91425" anchor="t" anchorCtr="0">
            <a:noAutofit/>
          </a:bodyPr>
          <a:lstStyle/>
          <a:p>
            <a:pPr lvl="0"/>
            <a:r>
              <a:rPr lang="en-GB" sz="1600" dirty="0">
                <a:solidFill>
                  <a:srgbClr val="202729"/>
                </a:solidFill>
                <a:latin typeface="Manrope SemiBold"/>
                <a:ea typeface="Manrope SemiBold"/>
                <a:cs typeface="Manrope SemiBold"/>
                <a:sym typeface="Manrope SemiBold"/>
              </a:rPr>
              <a:t>Problem Statement : </a:t>
            </a:r>
            <a:r>
              <a:rPr lang="en-US" sz="1600" dirty="0"/>
              <a:t>Build an AI-powered solution that improves access to information, resources, or opportunities for communities and public systems.</a:t>
            </a: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1549"/>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Varun </a:t>
            </a:r>
            <a:r>
              <a:rPr lang="en-GB" sz="1600" dirty="0" err="1">
                <a:solidFill>
                  <a:srgbClr val="202729"/>
                </a:solidFill>
                <a:latin typeface="Manrope SemiBold"/>
                <a:ea typeface="Manrope SemiBold"/>
                <a:cs typeface="Manrope SemiBold"/>
                <a:sym typeface="Manrope SemiBold"/>
              </a:rPr>
              <a:t>Vangari</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311699" y="863550"/>
            <a:ext cx="8467969" cy="4194226"/>
          </a:xfrm>
          <a:prstGeom prst="rect">
            <a:avLst/>
          </a:prstGeom>
          <a:noFill/>
          <a:ln>
            <a:noFill/>
          </a:ln>
        </p:spPr>
        <p:txBody>
          <a:bodyPr spcFirstLastPara="1" wrap="square" lIns="91425" tIns="91425" rIns="91425" bIns="91425" anchor="t" anchorCtr="0">
            <a:noAutofit/>
          </a:bodyPr>
          <a:lstStyle/>
          <a:p>
            <a:pPr lvl="0">
              <a:lnSpc>
                <a:spcPct val="115000"/>
              </a:lnSpc>
              <a:spcAft>
                <a:spcPts val="1200"/>
              </a:spcAft>
              <a:buSzPts val="935"/>
            </a:pPr>
            <a:r>
              <a:rPr lang="en-GB" sz="1600" b="1" dirty="0">
                <a:solidFill>
                  <a:srgbClr val="202729"/>
                </a:solidFill>
                <a:latin typeface="+mn-lt"/>
                <a:ea typeface="Manrope"/>
                <a:cs typeface="Manrope"/>
                <a:sym typeface="Manrope"/>
              </a:rPr>
              <a:t>Brief about the Idea</a:t>
            </a:r>
            <a:r>
              <a:rPr lang="en-GB" sz="1600" b="1" dirty="0">
                <a:solidFill>
                  <a:srgbClr val="202729"/>
                </a:solidFill>
                <a:latin typeface="Manrope"/>
                <a:ea typeface="Manrope"/>
                <a:cs typeface="Manrope"/>
                <a:sym typeface="Manrope"/>
              </a:rPr>
              <a:t>: </a:t>
            </a:r>
            <a:r>
              <a:rPr lang="en-US" dirty="0" err="1">
                <a:solidFill>
                  <a:srgbClr val="202729"/>
                </a:solidFill>
                <a:latin typeface="+mn-lt"/>
                <a:ea typeface="Manrope"/>
                <a:cs typeface="Manrope"/>
                <a:sym typeface="Manrope"/>
              </a:rPr>
              <a:t>BharatAccess</a:t>
            </a:r>
            <a:r>
              <a:rPr lang="en-US" dirty="0">
                <a:solidFill>
                  <a:srgbClr val="202729"/>
                </a:solidFill>
                <a:latin typeface="+mn-lt"/>
                <a:ea typeface="Manrope"/>
                <a:cs typeface="Manrope"/>
                <a:sym typeface="Manrope"/>
              </a:rPr>
              <a:t> AI is a voice-first, local-language AI assistant that helps underserved citizens understand and access government schemes, services, and opportunities without the need for digital literacy, English fluency, or intermediaries.</a:t>
            </a:r>
          </a:p>
          <a:p>
            <a:pPr lvl="0">
              <a:lnSpc>
                <a:spcPct val="115000"/>
              </a:lnSpc>
              <a:spcAft>
                <a:spcPts val="1200"/>
              </a:spcAft>
              <a:buSzPts val="935"/>
            </a:pPr>
            <a:r>
              <a:rPr lang="en-US" dirty="0">
                <a:solidFill>
                  <a:srgbClr val="202729"/>
                </a:solidFill>
                <a:latin typeface="+mn-lt"/>
                <a:ea typeface="Manrope"/>
                <a:cs typeface="Manrope"/>
                <a:sym typeface="Manrope"/>
              </a:rPr>
              <a:t>Instead of asking users to struggle through complex portals, </a:t>
            </a:r>
            <a:r>
              <a:rPr lang="en-US" dirty="0" err="1">
                <a:solidFill>
                  <a:srgbClr val="202729"/>
                </a:solidFill>
                <a:latin typeface="+mn-lt"/>
                <a:ea typeface="Manrope"/>
                <a:cs typeface="Manrope"/>
                <a:sym typeface="Manrope"/>
              </a:rPr>
              <a:t>BharatAccess</a:t>
            </a:r>
            <a:r>
              <a:rPr lang="en-US" dirty="0">
                <a:solidFill>
                  <a:srgbClr val="202729"/>
                </a:solidFill>
                <a:latin typeface="+mn-lt"/>
                <a:ea typeface="Manrope"/>
                <a:cs typeface="Manrope"/>
                <a:sym typeface="Manrope"/>
              </a:rPr>
              <a:t> AI is a smart layer of conversation on top of existing public systems. Users can just speak their natural language; the AI checks their eligibility and offers step-by-step advice on the available options, again in simple terms.</a:t>
            </a:r>
          </a:p>
          <a:p>
            <a:pPr lvl="0">
              <a:lnSpc>
                <a:spcPct val="115000"/>
              </a:lnSpc>
              <a:spcAft>
                <a:spcPts val="1200"/>
              </a:spcAft>
              <a:buSzPts val="935"/>
            </a:pPr>
            <a:endParaRPr lang="en-US" dirty="0">
              <a:solidFill>
                <a:srgbClr val="202729"/>
              </a:solidFill>
              <a:latin typeface="+mn-lt"/>
              <a:ea typeface="Manrope"/>
              <a:cs typeface="Manrope"/>
              <a:sym typeface="Manrope"/>
            </a:endParaRPr>
          </a:p>
          <a:p>
            <a:pPr lvl="0">
              <a:lnSpc>
                <a:spcPct val="115000"/>
              </a:lnSpc>
              <a:spcAft>
                <a:spcPts val="1200"/>
              </a:spcAft>
              <a:buSzPts val="935"/>
            </a:pPr>
            <a:r>
              <a:rPr lang="en-US" dirty="0">
                <a:solidFill>
                  <a:srgbClr val="202729"/>
                </a:solidFill>
                <a:latin typeface="+mn-lt"/>
                <a:ea typeface="Manrope"/>
                <a:cs typeface="Manrope"/>
                <a:sym typeface="Manrope"/>
              </a:rPr>
              <a:t>Essence of the product:</a:t>
            </a:r>
          </a:p>
          <a:p>
            <a:pPr lvl="0">
              <a:lnSpc>
                <a:spcPct val="115000"/>
              </a:lnSpc>
              <a:spcAft>
                <a:spcPts val="1200"/>
              </a:spcAft>
              <a:buSzPts val="935"/>
            </a:pPr>
            <a:br>
              <a:rPr lang="en-US" dirty="0">
                <a:solidFill>
                  <a:srgbClr val="202729"/>
                </a:solidFill>
                <a:latin typeface="+mn-lt"/>
                <a:ea typeface="Manrope"/>
                <a:cs typeface="Manrope"/>
                <a:sym typeface="Manrope"/>
              </a:rPr>
            </a:br>
            <a:r>
              <a:rPr lang="en-US" dirty="0">
                <a:solidFill>
                  <a:srgbClr val="202729"/>
                </a:solidFill>
                <a:latin typeface="+mn-lt"/>
                <a:ea typeface="Manrope"/>
                <a:cs typeface="Manrope"/>
                <a:sym typeface="Manrope"/>
              </a:rPr>
              <a:t>“From awareness → eligibility → action, in the user’s own voice and language.”</a:t>
            </a:r>
            <a:endParaRPr dirty="0">
              <a:solidFill>
                <a:srgbClr val="202729"/>
              </a:solidFill>
              <a:latin typeface="+mn-lt"/>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304080" y="596850"/>
            <a:ext cx="8753720" cy="446283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SzPts val="935"/>
              <a:buNone/>
            </a:pPr>
            <a:r>
              <a:rPr lang="en-GB" sz="7200" b="1" dirty="0">
                <a:solidFill>
                  <a:srgbClr val="202729"/>
                </a:solidFill>
                <a:latin typeface="Manrope"/>
                <a:ea typeface="Manrope"/>
                <a:cs typeface="Manrope"/>
                <a:sym typeface="Manrope"/>
              </a:rPr>
              <a:t>Your solution should be able to explain the following:</a:t>
            </a:r>
            <a:endParaRPr sz="2000" b="1" dirty="0">
              <a:solidFill>
                <a:srgbClr val="202729"/>
              </a:solidFill>
              <a:latin typeface="Manrope"/>
              <a:ea typeface="Manrope"/>
              <a:cs typeface="Manrope"/>
              <a:sym typeface="Manrope"/>
            </a:endParaRPr>
          </a:p>
          <a:p>
            <a:pPr marL="127000" lvl="0" algn="l" rtl="0">
              <a:lnSpc>
                <a:spcPct val="115000"/>
              </a:lnSpc>
              <a:spcBef>
                <a:spcPts val="1200"/>
              </a:spcBef>
              <a:spcAft>
                <a:spcPts val="0"/>
              </a:spcAft>
              <a:buClr>
                <a:srgbClr val="202729"/>
              </a:buClr>
              <a:buSzPts val="1600"/>
            </a:pPr>
            <a:r>
              <a:rPr lang="en-GB" sz="6400" b="1" dirty="0">
                <a:solidFill>
                  <a:srgbClr val="202729"/>
                </a:solidFill>
                <a:latin typeface="Manrope SemiBold"/>
                <a:ea typeface="Manrope SemiBold"/>
                <a:cs typeface="Manrope SemiBold"/>
                <a:sym typeface="Manrope SemiBold"/>
              </a:rPr>
              <a:t>How different is it from any of the other existing ideas?</a:t>
            </a:r>
          </a:p>
          <a:p>
            <a:pPr marL="127000" lvl="0">
              <a:lnSpc>
                <a:spcPct val="115000"/>
              </a:lnSpc>
              <a:spcBef>
                <a:spcPts val="1200"/>
              </a:spcBef>
              <a:buClr>
                <a:srgbClr val="202729"/>
              </a:buClr>
              <a:buSzPts val="1600"/>
            </a:pPr>
            <a:r>
              <a:rPr lang="en-US" sz="4800" dirty="0">
                <a:solidFill>
                  <a:srgbClr val="202729"/>
                </a:solidFill>
                <a:latin typeface="+mn-lt"/>
                <a:ea typeface="Manrope SemiBold"/>
                <a:cs typeface="Manrope SemiBold"/>
                <a:sym typeface="Manrope SemiBold"/>
              </a:rPr>
              <a:t>Currently, the government portals lack comprehensive information and tend to be English-dominant, text-based, and user-unfriendly. Helplines involve human intervention and have high waiting times. The CSCs involve physical presence and sometimes involve a fee. Generic AI chatbots simply provide information but cannot personalize the responses provided.</a:t>
            </a:r>
          </a:p>
          <a:p>
            <a:pPr marL="127000" lvl="0">
              <a:lnSpc>
                <a:spcPct val="115000"/>
              </a:lnSpc>
              <a:spcBef>
                <a:spcPts val="1200"/>
              </a:spcBef>
              <a:buClr>
                <a:srgbClr val="202729"/>
              </a:buClr>
              <a:buSzPts val="1600"/>
            </a:pPr>
            <a:r>
              <a:rPr lang="en-US" sz="4800" dirty="0">
                <a:solidFill>
                  <a:srgbClr val="202729"/>
                </a:solidFill>
                <a:latin typeface="+mn-lt"/>
                <a:ea typeface="Manrope SemiBold"/>
                <a:cs typeface="Manrope SemiBold"/>
                <a:sym typeface="Manrope SemiBold"/>
              </a:rPr>
              <a:t>What makes BharatAccess.ai different from the current options is the following five factors:</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It is voice-first, not text-first.</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It is not limited to English but is offered in local languages too.</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It is not just a list of schemes but a personalized eligibility test.</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It is not dependent on high bandwidth but can be accessed via WhatsApp or SMS too.</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It is not just limited to the delivery of information but goes a step further to deliver actionable steps too.</a:t>
            </a:r>
          </a:p>
          <a:p>
            <a:pPr marL="698500" lvl="0" indent="-571500">
              <a:lnSpc>
                <a:spcPct val="115000"/>
              </a:lnSpc>
              <a:spcBef>
                <a:spcPts val="1200"/>
              </a:spcBef>
              <a:buClr>
                <a:srgbClr val="202729"/>
              </a:buClr>
              <a:buSzPts val="1600"/>
              <a:buFont typeface="Arial" panose="020B0604020202020204" pitchFamily="34" charset="0"/>
              <a:buChar char="•"/>
            </a:pPr>
            <a:r>
              <a:rPr lang="en-US" sz="4800" dirty="0">
                <a:solidFill>
                  <a:srgbClr val="202729"/>
                </a:solidFill>
                <a:latin typeface="+mn-lt"/>
                <a:ea typeface="Manrope SemiBold"/>
                <a:cs typeface="Manrope SemiBold"/>
                <a:sym typeface="Manrope SemiBold"/>
              </a:rPr>
              <a:t>This makes it a useful and viable product and not just another AI-based chatbot.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2072493A-95E0-19FA-2015-F3FCEFB249EF}"/>
            </a:ext>
          </a:extLst>
        </p:cNvPr>
        <p:cNvGrpSpPr/>
        <p:nvPr/>
      </p:nvGrpSpPr>
      <p:grpSpPr>
        <a:xfrm>
          <a:off x="0" y="0"/>
          <a:ext cx="0" cy="0"/>
          <a:chOff x="0" y="0"/>
          <a:chExt cx="0" cy="0"/>
        </a:xfrm>
      </p:grpSpPr>
      <p:pic>
        <p:nvPicPr>
          <p:cNvPr id="68" name="Google Shape;68;p15" title="Artboarddfghjk – 6.png">
            <a:extLst>
              <a:ext uri="{FF2B5EF4-FFF2-40B4-BE49-F238E27FC236}">
                <a16:creationId xmlns:a16="http://schemas.microsoft.com/office/drawing/2014/main" id="{18FCA82D-269D-233C-2CAB-061E128DA23D}"/>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a:extLst>
              <a:ext uri="{FF2B5EF4-FFF2-40B4-BE49-F238E27FC236}">
                <a16:creationId xmlns:a16="http://schemas.microsoft.com/office/drawing/2014/main" id="{3771E3EB-BDDC-71A7-B8B7-7E03B32BC94D}"/>
              </a:ext>
            </a:extLst>
          </p:cNvPr>
          <p:cNvSpPr txBox="1"/>
          <p:nvPr/>
        </p:nvSpPr>
        <p:spPr>
          <a:xfrm>
            <a:off x="304080" y="596850"/>
            <a:ext cx="8753720" cy="4462830"/>
          </a:xfrm>
          <a:prstGeom prst="rect">
            <a:avLst/>
          </a:prstGeom>
          <a:noFill/>
          <a:ln>
            <a:noFill/>
          </a:ln>
        </p:spPr>
        <p:txBody>
          <a:bodyPr spcFirstLastPara="1" wrap="square" lIns="91425" tIns="91425" rIns="91425" bIns="91425" anchor="t" anchorCtr="0">
            <a:normAutofit/>
          </a:bodyPr>
          <a:lstStyle/>
          <a:p>
            <a:pPr marL="127000" lvl="0">
              <a:lnSpc>
                <a:spcPct val="115000"/>
              </a:lnSpc>
              <a:spcBef>
                <a:spcPts val="1200"/>
              </a:spcBef>
              <a:buClr>
                <a:srgbClr val="202729"/>
              </a:buClr>
              <a:buSzPts val="1600"/>
            </a:pPr>
            <a:r>
              <a:rPr lang="en-US" sz="1800" b="1" dirty="0">
                <a:latin typeface="+mn-lt"/>
              </a:rPr>
              <a:t>How the Solution Solves the Problem</a:t>
            </a:r>
            <a:endParaRPr lang="en-US" sz="1600" b="1" dirty="0">
              <a:latin typeface="+mn-lt"/>
            </a:endParaRPr>
          </a:p>
          <a:p>
            <a:pPr marL="285750" indent="-285750">
              <a:buFont typeface="Arial" panose="020B0604020202020204" pitchFamily="34" charset="0"/>
              <a:buChar char="•"/>
            </a:pPr>
            <a:r>
              <a:rPr lang="en-US" dirty="0">
                <a:latin typeface="+mn-lt"/>
              </a:rPr>
              <a:t>This is because the solution helps to address the root causes of digital exclusion as follows:</a:t>
            </a:r>
          </a:p>
          <a:p>
            <a:pPr marL="285750" indent="-285750">
              <a:buFont typeface="Arial" panose="020B0604020202020204" pitchFamily="34" charset="0"/>
              <a:buChar char="•"/>
            </a:pPr>
            <a:endParaRPr lang="en-US" dirty="0">
              <a:latin typeface="+mn-lt"/>
            </a:endParaRPr>
          </a:p>
          <a:p>
            <a:pPr marL="285750" indent="-285750">
              <a:buFont typeface="Arial" panose="020B0604020202020204" pitchFamily="34" charset="0"/>
              <a:buChar char="•"/>
            </a:pPr>
            <a:r>
              <a:rPr lang="en-US" dirty="0">
                <a:latin typeface="+mn-lt"/>
              </a:rPr>
              <a:t>Firstly, the solution helps to overcome the problem of language and literacy exclusion by using speech-based interaction.</a:t>
            </a:r>
          </a:p>
          <a:p>
            <a:endParaRPr lang="en-US" dirty="0">
              <a:latin typeface="+mn-lt"/>
            </a:endParaRPr>
          </a:p>
          <a:p>
            <a:pPr marL="285750" indent="-285750">
              <a:buFont typeface="Arial" panose="020B0604020202020204" pitchFamily="34" charset="0"/>
              <a:buChar char="•"/>
            </a:pPr>
            <a:r>
              <a:rPr lang="en-US" dirty="0">
                <a:latin typeface="+mn-lt"/>
              </a:rPr>
              <a:t>Secondly, the solution helps to overcome the problem of confusion by making the eligibility criteria personal. This means that instead of having to visit different websites, the user only has to answer a few questions, and the system will then identify the schemes they are eligible for.</a:t>
            </a:r>
          </a:p>
          <a:p>
            <a:endParaRPr lang="en-US" dirty="0">
              <a:latin typeface="+mn-lt"/>
            </a:endParaRPr>
          </a:p>
          <a:p>
            <a:pPr marL="285750" indent="-285750">
              <a:buFont typeface="Arial" panose="020B0604020202020204" pitchFamily="34" charset="0"/>
              <a:buChar char="•"/>
            </a:pPr>
            <a:r>
              <a:rPr lang="en-US" dirty="0">
                <a:latin typeface="+mn-lt"/>
              </a:rPr>
              <a:t>Thirdly, the solution helps to overcome the problem of complexity by making the process of applying for the schemes simple and straightforward by using simple and clear language.</a:t>
            </a:r>
          </a:p>
          <a:p>
            <a:endParaRPr lang="en-US" dirty="0">
              <a:latin typeface="+mn-lt"/>
            </a:endParaRPr>
          </a:p>
          <a:p>
            <a:pPr marL="285750" indent="-285750">
              <a:buFont typeface="Arial" panose="020B0604020202020204" pitchFamily="34" charset="0"/>
              <a:buChar char="•"/>
            </a:pPr>
            <a:r>
              <a:rPr lang="en-US" dirty="0">
                <a:latin typeface="+mn-lt"/>
              </a:rPr>
              <a:t>Lastly, the solution helps to overcome the problem of middlemen exclusion by empowering the user to have direct access to accurate and simple guidance.</a:t>
            </a:r>
          </a:p>
        </p:txBody>
      </p:sp>
    </p:spTree>
    <p:extLst>
      <p:ext uri="{BB962C8B-B14F-4D97-AF65-F5344CB8AC3E}">
        <p14:creationId xmlns:p14="http://schemas.microsoft.com/office/powerpoint/2010/main" val="1465259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2D6921A4-FCDA-9C33-EFF9-7AD9913BEC27}"/>
            </a:ext>
          </a:extLst>
        </p:cNvPr>
        <p:cNvGrpSpPr/>
        <p:nvPr/>
      </p:nvGrpSpPr>
      <p:grpSpPr>
        <a:xfrm>
          <a:off x="0" y="0"/>
          <a:ext cx="0" cy="0"/>
          <a:chOff x="0" y="0"/>
          <a:chExt cx="0" cy="0"/>
        </a:xfrm>
      </p:grpSpPr>
      <p:pic>
        <p:nvPicPr>
          <p:cNvPr id="68" name="Google Shape;68;p15" title="Artboarddfghjk – 6.png">
            <a:extLst>
              <a:ext uri="{FF2B5EF4-FFF2-40B4-BE49-F238E27FC236}">
                <a16:creationId xmlns:a16="http://schemas.microsoft.com/office/drawing/2014/main" id="{BA004652-97DB-1475-EF5B-258E5CEC874F}"/>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a:extLst>
              <a:ext uri="{FF2B5EF4-FFF2-40B4-BE49-F238E27FC236}">
                <a16:creationId xmlns:a16="http://schemas.microsoft.com/office/drawing/2014/main" id="{B7783F62-1813-4086-6246-9738E6737D71}"/>
              </a:ext>
            </a:extLst>
          </p:cNvPr>
          <p:cNvSpPr txBox="1"/>
          <p:nvPr/>
        </p:nvSpPr>
        <p:spPr>
          <a:xfrm>
            <a:off x="304080" y="596850"/>
            <a:ext cx="8753720" cy="4462830"/>
          </a:xfrm>
          <a:prstGeom prst="rect">
            <a:avLst/>
          </a:prstGeom>
          <a:noFill/>
          <a:ln>
            <a:noFill/>
          </a:ln>
        </p:spPr>
        <p:txBody>
          <a:bodyPr spcFirstLastPara="1" wrap="square" lIns="91425" tIns="91425" rIns="91425" bIns="91425" anchor="t" anchorCtr="0">
            <a:normAutofit/>
          </a:bodyPr>
          <a:lstStyle/>
          <a:p>
            <a:pPr marL="127000" lvl="0">
              <a:lnSpc>
                <a:spcPct val="115000"/>
              </a:lnSpc>
              <a:spcBef>
                <a:spcPts val="1200"/>
              </a:spcBef>
              <a:buClr>
                <a:srgbClr val="202729"/>
              </a:buClr>
              <a:buSzPts val="1600"/>
            </a:pPr>
            <a:r>
              <a:rPr lang="en-IN" sz="1600" b="1" dirty="0">
                <a:latin typeface="+mn-lt"/>
              </a:rPr>
              <a:t>USP (Unique Selling Proposition)</a:t>
            </a:r>
          </a:p>
          <a:p>
            <a:pPr marL="127000" lvl="0">
              <a:lnSpc>
                <a:spcPct val="115000"/>
              </a:lnSpc>
              <a:spcBef>
                <a:spcPts val="1200"/>
              </a:spcBef>
              <a:buClr>
                <a:srgbClr val="202729"/>
              </a:buClr>
              <a:buSzPts val="1600"/>
            </a:pPr>
            <a:endParaRPr lang="en-IN" sz="700" b="1" dirty="0">
              <a:latin typeface="Manrope" panose="020B0604020202020204" charset="0"/>
            </a:endParaRPr>
          </a:p>
          <a:p>
            <a:pPr marL="127000" lvl="0">
              <a:spcBef>
                <a:spcPts val="1200"/>
              </a:spcBef>
              <a:buClr>
                <a:srgbClr val="202729"/>
              </a:buClr>
              <a:buSzPts val="1600"/>
            </a:pPr>
            <a:r>
              <a:rPr lang="en-US" dirty="0">
                <a:latin typeface="+mn-lt"/>
              </a:rPr>
              <a:t>The primary USP of bharataccess.ai is:</a:t>
            </a:r>
          </a:p>
          <a:p>
            <a:pPr marL="127000" lvl="0">
              <a:spcBef>
                <a:spcPts val="1200"/>
              </a:spcBef>
              <a:buClr>
                <a:srgbClr val="202729"/>
              </a:buClr>
              <a:buSzPts val="1600"/>
            </a:pPr>
            <a:r>
              <a:rPr lang="en-US" dirty="0">
                <a:latin typeface="+mn-lt"/>
              </a:rPr>
              <a:t>A voice-first, local language AI that offers personalized guidance on public benefits even in low bandwidth situations. Supporting differentiators include:</a:t>
            </a:r>
          </a:p>
          <a:p>
            <a:pPr marL="127000" lvl="0">
              <a:lnSpc>
                <a:spcPct val="115000"/>
              </a:lnSpc>
              <a:spcBef>
                <a:spcPts val="1200"/>
              </a:spcBef>
              <a:buClr>
                <a:srgbClr val="202729"/>
              </a:buClr>
              <a:buSzPts val="1600"/>
            </a:pPr>
            <a:r>
              <a:rPr lang="en-US" dirty="0">
                <a:latin typeface="+mn-lt"/>
              </a:rPr>
              <a:t>The following are the support USPs:</a:t>
            </a:r>
          </a:p>
          <a:p>
            <a:pPr marL="285750" indent="-285750">
              <a:lnSpc>
                <a:spcPct val="150000"/>
              </a:lnSpc>
              <a:buFont typeface="Arial" panose="020B0604020202020204" pitchFamily="34" charset="0"/>
              <a:buChar char="•"/>
            </a:pPr>
            <a:r>
              <a:rPr lang="en-US" dirty="0">
                <a:latin typeface="+mn-lt"/>
              </a:rPr>
              <a:t>Hyper-local language support</a:t>
            </a:r>
          </a:p>
          <a:p>
            <a:pPr marL="285750" indent="-285750">
              <a:lnSpc>
                <a:spcPct val="150000"/>
              </a:lnSpc>
              <a:buFont typeface="Arial" panose="020B0604020202020204" pitchFamily="34" charset="0"/>
              <a:buChar char="•"/>
            </a:pPr>
            <a:r>
              <a:rPr lang="en-US" dirty="0">
                <a:latin typeface="+mn-lt"/>
              </a:rPr>
              <a:t>Eligibility-based filtering</a:t>
            </a:r>
          </a:p>
          <a:p>
            <a:pPr marL="285750" indent="-285750">
              <a:lnSpc>
                <a:spcPct val="150000"/>
              </a:lnSpc>
              <a:buFont typeface="Arial" panose="020B0604020202020204" pitchFamily="34" charset="0"/>
              <a:buChar char="•"/>
            </a:pPr>
            <a:r>
              <a:rPr lang="en-US" dirty="0">
                <a:latin typeface="+mn-lt"/>
              </a:rPr>
              <a:t>Action-oriented responses</a:t>
            </a:r>
          </a:p>
          <a:p>
            <a:pPr marL="285750" indent="-285750">
              <a:lnSpc>
                <a:spcPct val="150000"/>
              </a:lnSpc>
              <a:buFont typeface="Arial" panose="020B0604020202020204" pitchFamily="34" charset="0"/>
              <a:buChar char="•"/>
            </a:pPr>
            <a:r>
              <a:rPr lang="en-US" dirty="0">
                <a:latin typeface="+mn-lt"/>
              </a:rPr>
              <a:t>WhatsApp and SMS compatibility</a:t>
            </a:r>
          </a:p>
          <a:p>
            <a:pPr marL="285750" indent="-285750">
              <a:lnSpc>
                <a:spcPct val="150000"/>
              </a:lnSpc>
              <a:buFont typeface="Arial" panose="020B0604020202020204" pitchFamily="34" charset="0"/>
              <a:buChar char="•"/>
            </a:pPr>
            <a:r>
              <a:rPr lang="en-US" dirty="0">
                <a:latin typeface="+mn-lt"/>
              </a:rPr>
              <a:t>Scalable backend architecture</a:t>
            </a:r>
          </a:p>
        </p:txBody>
      </p:sp>
    </p:spTree>
    <p:extLst>
      <p:ext uri="{BB962C8B-B14F-4D97-AF65-F5344CB8AC3E}">
        <p14:creationId xmlns:p14="http://schemas.microsoft.com/office/powerpoint/2010/main" val="995717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464100" y="736950"/>
            <a:ext cx="7531800" cy="36696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ts val="935"/>
              <a:buNone/>
            </a:pPr>
            <a:r>
              <a:rPr lang="en-GB" sz="1700" b="1" dirty="0">
                <a:solidFill>
                  <a:srgbClr val="202729"/>
                </a:solidFill>
                <a:latin typeface="+mn-lt"/>
                <a:ea typeface="Manrope"/>
                <a:cs typeface="Manrope"/>
                <a:sym typeface="Manrope"/>
              </a:rPr>
              <a:t>List of features offered by the solution</a:t>
            </a:r>
            <a:r>
              <a:rPr lang="en-GB" sz="1700" b="1" dirty="0">
                <a:solidFill>
                  <a:srgbClr val="434343"/>
                </a:solidFill>
                <a:latin typeface="+mn-lt"/>
                <a:ea typeface="Manrope"/>
                <a:cs typeface="Manrope"/>
                <a:sym typeface="Manrope"/>
              </a:rPr>
              <a:t>:</a:t>
            </a:r>
          </a:p>
          <a:p>
            <a:pPr marL="0" lvl="0" indent="0" algn="l" rtl="0">
              <a:lnSpc>
                <a:spcPct val="115000"/>
              </a:lnSpc>
              <a:spcBef>
                <a:spcPts val="0"/>
              </a:spcBef>
              <a:spcAft>
                <a:spcPts val="0"/>
              </a:spcAft>
              <a:buSzPts val="935"/>
              <a:buNone/>
            </a:pPr>
            <a:endParaRPr lang="en-GB" sz="1700" b="1" dirty="0">
              <a:solidFill>
                <a:srgbClr val="434343"/>
              </a:solidFill>
              <a:latin typeface="Manrope"/>
              <a:ea typeface="Manrope"/>
              <a:cs typeface="Manrope"/>
              <a:sym typeface="Manrope"/>
            </a:endParaRP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Voice-based interaction using speech-to-text and text-to-speech</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Multi-language support (Hindi + one regional language initially)</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Smart eligibility engine based on structured scheme rules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Personalized scheme recommendations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Step-by-step application guidance</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Document checklist generation</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WhatsApp bot integration</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SMS fallback for low connectivity</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Admin dashboard for monitoring usage and analytics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mn-lt"/>
              </a:rPr>
              <a:t>Knowledge base to prevent AI hallucinations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321470" y="550069"/>
            <a:ext cx="6286500" cy="4486275"/>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600" b="1" dirty="0">
                <a:solidFill>
                  <a:srgbClr val="202729"/>
                </a:solidFill>
                <a:latin typeface="+mn-lt"/>
                <a:ea typeface="Manrope"/>
                <a:cs typeface="Manrope"/>
                <a:sym typeface="Manrope"/>
              </a:rPr>
              <a:t>Process flow diagram or Use-case diagram</a:t>
            </a:r>
            <a:endParaRPr sz="1600" b="1" dirty="0">
              <a:solidFill>
                <a:srgbClr val="202729"/>
              </a:solidFill>
              <a:latin typeface="+mn-lt"/>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5" name="Picture 4">
            <a:extLst>
              <a:ext uri="{FF2B5EF4-FFF2-40B4-BE49-F238E27FC236}">
                <a16:creationId xmlns:a16="http://schemas.microsoft.com/office/drawing/2014/main" id="{4EFC1199-06D3-7EFA-78D0-638A300B3CE0}"/>
              </a:ext>
            </a:extLst>
          </p:cNvPr>
          <p:cNvPicPr>
            <a:picLocks noChangeAspect="1"/>
          </p:cNvPicPr>
          <p:nvPr/>
        </p:nvPicPr>
        <p:blipFill>
          <a:blip r:embed="rId4"/>
          <a:srcRect b="7013"/>
          <a:stretch>
            <a:fillRect/>
          </a:stretch>
        </p:blipFill>
        <p:spPr>
          <a:xfrm>
            <a:off x="676872" y="992982"/>
            <a:ext cx="3374587" cy="40433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11700" y="614363"/>
            <a:ext cx="7531800" cy="436483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600" b="1" dirty="0">
                <a:solidFill>
                  <a:srgbClr val="202729"/>
                </a:solidFill>
                <a:latin typeface="+mn-lt"/>
                <a:ea typeface="Manrope"/>
                <a:cs typeface="Manrope"/>
                <a:sym typeface="Manrope"/>
              </a:rPr>
              <a:t>Wireframes/Mock diagrams of the proposed solution (optional)</a:t>
            </a:r>
            <a:endParaRPr sz="1600" b="1" dirty="0">
              <a:solidFill>
                <a:srgbClr val="202729"/>
              </a:solidFill>
              <a:latin typeface="+mn-lt"/>
              <a:ea typeface="Manrope"/>
              <a:cs typeface="Manrope"/>
              <a:sym typeface="Manrope"/>
            </a:endParaRPr>
          </a:p>
          <a:p>
            <a:pPr marL="0" lvl="0" indent="0" algn="l" rtl="0">
              <a:lnSpc>
                <a:spcPct val="115000"/>
              </a:lnSpc>
              <a:spcBef>
                <a:spcPts val="1200"/>
              </a:spcBef>
              <a:spcAft>
                <a:spcPts val="1200"/>
              </a:spcAft>
              <a:buSzPts val="935"/>
              <a:buNone/>
            </a:pPr>
            <a:endParaRPr sz="1200" dirty="0">
              <a:solidFill>
                <a:srgbClr val="434343"/>
              </a:solidFill>
              <a:latin typeface="+mn-lt"/>
              <a:ea typeface="Manrope"/>
              <a:cs typeface="Manrope"/>
              <a:sym typeface="Manrope"/>
            </a:endParaRPr>
          </a:p>
        </p:txBody>
      </p:sp>
      <p:pic>
        <p:nvPicPr>
          <p:cNvPr id="5" name="Picture 4">
            <a:extLst>
              <a:ext uri="{FF2B5EF4-FFF2-40B4-BE49-F238E27FC236}">
                <a16:creationId xmlns:a16="http://schemas.microsoft.com/office/drawing/2014/main" id="{15DB15EF-A92F-CD28-EF79-AB99CD82D9B3}"/>
              </a:ext>
            </a:extLst>
          </p:cNvPr>
          <p:cNvPicPr>
            <a:picLocks noChangeAspect="1"/>
          </p:cNvPicPr>
          <p:nvPr/>
        </p:nvPicPr>
        <p:blipFill>
          <a:blip r:embed="rId4"/>
          <a:stretch>
            <a:fillRect/>
          </a:stretch>
        </p:blipFill>
        <p:spPr>
          <a:xfrm>
            <a:off x="171383" y="1146656"/>
            <a:ext cx="1715299" cy="3780000"/>
          </a:xfrm>
          <a:prstGeom prst="rect">
            <a:avLst/>
          </a:prstGeom>
        </p:spPr>
      </p:pic>
      <p:pic>
        <p:nvPicPr>
          <p:cNvPr id="7" name="Picture 6">
            <a:extLst>
              <a:ext uri="{FF2B5EF4-FFF2-40B4-BE49-F238E27FC236}">
                <a16:creationId xmlns:a16="http://schemas.microsoft.com/office/drawing/2014/main" id="{A4B654C8-D801-A526-28F3-47FC6EB80C53}"/>
              </a:ext>
            </a:extLst>
          </p:cNvPr>
          <p:cNvPicPr>
            <a:picLocks noChangeAspect="1"/>
          </p:cNvPicPr>
          <p:nvPr/>
        </p:nvPicPr>
        <p:blipFill>
          <a:blip r:embed="rId5"/>
          <a:stretch>
            <a:fillRect/>
          </a:stretch>
        </p:blipFill>
        <p:spPr>
          <a:xfrm>
            <a:off x="1996398" y="1146656"/>
            <a:ext cx="1669343" cy="3780000"/>
          </a:xfrm>
          <a:prstGeom prst="rect">
            <a:avLst/>
          </a:prstGeom>
        </p:spPr>
      </p:pic>
      <p:pic>
        <p:nvPicPr>
          <p:cNvPr id="9" name="Picture 8">
            <a:extLst>
              <a:ext uri="{FF2B5EF4-FFF2-40B4-BE49-F238E27FC236}">
                <a16:creationId xmlns:a16="http://schemas.microsoft.com/office/drawing/2014/main" id="{5EF9C76A-EA48-B19E-B6EF-F26E480EB8E9}"/>
              </a:ext>
            </a:extLst>
          </p:cNvPr>
          <p:cNvPicPr>
            <a:picLocks noChangeAspect="1"/>
          </p:cNvPicPr>
          <p:nvPr/>
        </p:nvPicPr>
        <p:blipFill>
          <a:blip r:embed="rId6"/>
          <a:stretch>
            <a:fillRect/>
          </a:stretch>
        </p:blipFill>
        <p:spPr>
          <a:xfrm>
            <a:off x="3775456" y="1146656"/>
            <a:ext cx="1615439" cy="3780000"/>
          </a:xfrm>
          <a:prstGeom prst="rect">
            <a:avLst/>
          </a:prstGeom>
        </p:spPr>
      </p:pic>
      <p:pic>
        <p:nvPicPr>
          <p:cNvPr id="11" name="Picture 10">
            <a:extLst>
              <a:ext uri="{FF2B5EF4-FFF2-40B4-BE49-F238E27FC236}">
                <a16:creationId xmlns:a16="http://schemas.microsoft.com/office/drawing/2014/main" id="{483A0D7B-5DC7-3DCB-1360-D79138776441}"/>
              </a:ext>
            </a:extLst>
          </p:cNvPr>
          <p:cNvPicPr>
            <a:picLocks noChangeAspect="1"/>
          </p:cNvPicPr>
          <p:nvPr/>
        </p:nvPicPr>
        <p:blipFill>
          <a:blip r:embed="rId7"/>
          <a:stretch>
            <a:fillRect/>
          </a:stretch>
        </p:blipFill>
        <p:spPr>
          <a:xfrm>
            <a:off x="5514903" y="1146656"/>
            <a:ext cx="1667272" cy="3780000"/>
          </a:xfrm>
          <a:prstGeom prst="rect">
            <a:avLst/>
          </a:prstGeom>
        </p:spPr>
      </p:pic>
      <p:pic>
        <p:nvPicPr>
          <p:cNvPr id="13" name="Picture 12">
            <a:extLst>
              <a:ext uri="{FF2B5EF4-FFF2-40B4-BE49-F238E27FC236}">
                <a16:creationId xmlns:a16="http://schemas.microsoft.com/office/drawing/2014/main" id="{995E7091-1BD7-5BF7-9C35-549677E1B421}"/>
              </a:ext>
            </a:extLst>
          </p:cNvPr>
          <p:cNvPicPr>
            <a:picLocks noChangeAspect="1"/>
          </p:cNvPicPr>
          <p:nvPr/>
        </p:nvPicPr>
        <p:blipFill>
          <a:blip r:embed="rId8"/>
          <a:stretch>
            <a:fillRect/>
          </a:stretch>
        </p:blipFill>
        <p:spPr>
          <a:xfrm>
            <a:off x="7269686" y="1146656"/>
            <a:ext cx="1681426" cy="378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700" y="571500"/>
            <a:ext cx="7531800" cy="4457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600" b="1" dirty="0">
                <a:solidFill>
                  <a:srgbClr val="202729"/>
                </a:solidFill>
                <a:latin typeface="+mn-lt"/>
                <a:ea typeface="Manrope"/>
                <a:cs typeface="Manrope"/>
                <a:sym typeface="Manrope"/>
              </a:rPr>
              <a:t>Architecture diagram of the proposed solution:</a:t>
            </a:r>
          </a:p>
          <a:p>
            <a:pPr marL="0" lvl="0" indent="0" algn="l" rtl="0">
              <a:lnSpc>
                <a:spcPct val="115000"/>
              </a:lnSpc>
              <a:spcBef>
                <a:spcPts val="0"/>
              </a:spcBef>
              <a:spcAft>
                <a:spcPts val="1200"/>
              </a:spcAft>
              <a:buSzPts val="935"/>
              <a:buNone/>
            </a:pPr>
            <a:endParaRPr sz="1200" dirty="0">
              <a:solidFill>
                <a:srgbClr val="434343"/>
              </a:solidFill>
              <a:latin typeface="+mn-lt"/>
              <a:ea typeface="Manrope"/>
              <a:cs typeface="Manrope"/>
              <a:sym typeface="Manrope"/>
            </a:endParaRPr>
          </a:p>
        </p:txBody>
      </p:sp>
      <p:pic>
        <p:nvPicPr>
          <p:cNvPr id="3" name="Picture 2">
            <a:extLst>
              <a:ext uri="{FF2B5EF4-FFF2-40B4-BE49-F238E27FC236}">
                <a16:creationId xmlns:a16="http://schemas.microsoft.com/office/drawing/2014/main" id="{954440E1-2226-54C4-5076-E316222C1D0E}"/>
              </a:ext>
            </a:extLst>
          </p:cNvPr>
          <p:cNvPicPr>
            <a:picLocks noChangeAspect="1"/>
          </p:cNvPicPr>
          <p:nvPr/>
        </p:nvPicPr>
        <p:blipFill>
          <a:blip r:embed="rId4"/>
          <a:srcRect b="7706"/>
          <a:stretch>
            <a:fillRect/>
          </a:stretch>
        </p:blipFill>
        <p:spPr>
          <a:xfrm>
            <a:off x="311700" y="989990"/>
            <a:ext cx="7719780" cy="40392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218831" y="651225"/>
            <a:ext cx="8832300" cy="40065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1200"/>
              </a:spcAft>
              <a:buSzPts val="935"/>
              <a:buNone/>
            </a:pPr>
            <a:r>
              <a:rPr lang="en-GB" sz="2100" b="1" dirty="0">
                <a:solidFill>
                  <a:srgbClr val="202729"/>
                </a:solidFill>
                <a:latin typeface="+mn-lt"/>
                <a:ea typeface="Manrope"/>
                <a:cs typeface="Manrope"/>
                <a:sym typeface="Manrope"/>
              </a:rPr>
              <a:t>Technologies to be used in the solution: </a:t>
            </a:r>
          </a:p>
          <a:p>
            <a:r>
              <a:rPr lang="en-IN" sz="1600" b="1" dirty="0">
                <a:latin typeface="+mn-lt"/>
              </a:rPr>
              <a:t>Backend</a:t>
            </a:r>
            <a:endParaRPr lang="en-IN" sz="1600" dirty="0">
              <a:latin typeface="+mn-lt"/>
            </a:endParaRPr>
          </a:p>
          <a:p>
            <a:pPr marL="285750" indent="-285750">
              <a:lnSpc>
                <a:spcPct val="120000"/>
              </a:lnSpc>
              <a:buFont typeface="Arial" panose="020B0604020202020204" pitchFamily="34" charset="0"/>
              <a:buChar char="•"/>
            </a:pPr>
            <a:r>
              <a:rPr lang="en-IN" sz="1600" dirty="0">
                <a:latin typeface="+mn-lt"/>
              </a:rPr>
              <a:t>Python 3.10+</a:t>
            </a:r>
          </a:p>
          <a:p>
            <a:pPr marL="285750" indent="-285750">
              <a:lnSpc>
                <a:spcPct val="120000"/>
              </a:lnSpc>
              <a:buFont typeface="Arial" panose="020B0604020202020204" pitchFamily="34" charset="0"/>
              <a:buChar char="•"/>
            </a:pPr>
            <a:r>
              <a:rPr lang="en-IN" sz="1600" dirty="0" err="1">
                <a:latin typeface="+mn-lt"/>
              </a:rPr>
              <a:t>FastAPI</a:t>
            </a:r>
            <a:r>
              <a:rPr lang="en-IN" sz="1600" dirty="0">
                <a:latin typeface="+mn-lt"/>
              </a:rPr>
              <a:t> for REST API</a:t>
            </a:r>
          </a:p>
          <a:p>
            <a:pPr marL="285750" indent="-285750">
              <a:lnSpc>
                <a:spcPct val="120000"/>
              </a:lnSpc>
              <a:buFont typeface="Arial" panose="020B0604020202020204" pitchFamily="34" charset="0"/>
              <a:buChar char="•"/>
            </a:pPr>
            <a:r>
              <a:rPr lang="en-IN" sz="1600" dirty="0">
                <a:latin typeface="+mn-lt"/>
              </a:rPr>
              <a:t>PostgreSQL or MongoDB for database</a:t>
            </a:r>
          </a:p>
          <a:p>
            <a:pPr marL="285750" indent="-285750">
              <a:lnSpc>
                <a:spcPct val="120000"/>
              </a:lnSpc>
              <a:buFont typeface="Arial" panose="020B0604020202020204" pitchFamily="34" charset="0"/>
              <a:buChar char="•"/>
            </a:pPr>
            <a:r>
              <a:rPr lang="en-IN" sz="1600" dirty="0">
                <a:latin typeface="+mn-lt"/>
              </a:rPr>
              <a:t>Redis for caching </a:t>
            </a:r>
          </a:p>
          <a:p>
            <a:pPr>
              <a:lnSpc>
                <a:spcPct val="120000"/>
              </a:lnSpc>
            </a:pPr>
            <a:endParaRPr lang="en-IN" sz="1600" dirty="0">
              <a:latin typeface="+mn-lt"/>
            </a:endParaRPr>
          </a:p>
          <a:p>
            <a:r>
              <a:rPr lang="en-IN" sz="1600" b="1" dirty="0">
                <a:latin typeface="+mn-lt"/>
              </a:rPr>
              <a:t>AI/ML</a:t>
            </a:r>
            <a:endParaRPr lang="en-IN" sz="1600" dirty="0">
              <a:latin typeface="+mn-lt"/>
            </a:endParaRPr>
          </a:p>
          <a:p>
            <a:pPr marL="285750" indent="-285750">
              <a:lnSpc>
                <a:spcPct val="120000"/>
              </a:lnSpc>
              <a:buFont typeface="Arial" panose="020B0604020202020204" pitchFamily="34" charset="0"/>
              <a:buChar char="•"/>
            </a:pPr>
            <a:r>
              <a:rPr lang="en-IN" sz="1600" dirty="0">
                <a:latin typeface="+mn-lt"/>
              </a:rPr>
              <a:t>OpenAI Whisper (base or small model for speed)</a:t>
            </a:r>
          </a:p>
          <a:p>
            <a:pPr marL="285750" indent="-285750">
              <a:lnSpc>
                <a:spcPct val="120000"/>
              </a:lnSpc>
              <a:buFont typeface="Arial" panose="020B0604020202020204" pitchFamily="34" charset="0"/>
              <a:buChar char="•"/>
            </a:pPr>
            <a:r>
              <a:rPr lang="en-IN" sz="1600" dirty="0">
                <a:latin typeface="+mn-lt"/>
              </a:rPr>
              <a:t>GPT-3.5-turbo /Llama 2/ Gemini 1.5 (Pro / Flash) / Claude 3 (Haiku / Sonnet / Opus) for LLM explanation</a:t>
            </a:r>
          </a:p>
          <a:p>
            <a:pPr marL="285750" indent="-285750">
              <a:lnSpc>
                <a:spcPct val="120000"/>
              </a:lnSpc>
              <a:buFont typeface="Arial" panose="020B0604020202020204" pitchFamily="34" charset="0"/>
              <a:buChar char="•"/>
            </a:pPr>
            <a:r>
              <a:rPr lang="en-IN" sz="1600" dirty="0">
                <a:latin typeface="+mn-lt"/>
              </a:rPr>
              <a:t>Indic TTS (AI4Bharat or Google Cloud TTS with Indic voices)</a:t>
            </a:r>
          </a:p>
          <a:p>
            <a:br>
              <a:rPr lang="en-IN" sz="1600" dirty="0">
                <a:latin typeface="+mn-lt"/>
              </a:rPr>
            </a:br>
            <a:r>
              <a:rPr lang="en-IN" sz="1600" b="1" dirty="0">
                <a:latin typeface="+mn-lt"/>
              </a:rPr>
              <a:t>WhatsApp Integration</a:t>
            </a:r>
            <a:endParaRPr lang="en-IN" sz="1600" dirty="0">
              <a:latin typeface="+mn-lt"/>
            </a:endParaRPr>
          </a:p>
          <a:p>
            <a:pPr marL="285750" indent="-285750">
              <a:lnSpc>
                <a:spcPct val="120000"/>
              </a:lnSpc>
              <a:buFont typeface="Arial" panose="020B0604020202020204" pitchFamily="34" charset="0"/>
              <a:buChar char="•"/>
            </a:pPr>
            <a:r>
              <a:rPr lang="en-IN" sz="1600" dirty="0">
                <a:latin typeface="+mn-lt"/>
              </a:rPr>
              <a:t>Twilio WhatsApp API</a:t>
            </a:r>
          </a:p>
          <a:p>
            <a:pPr marL="285750" indent="-285750">
              <a:lnSpc>
                <a:spcPct val="120000"/>
              </a:lnSpc>
              <a:buFont typeface="Arial" panose="020B0604020202020204" pitchFamily="34" charset="0"/>
              <a:buChar char="•"/>
            </a:pPr>
            <a:r>
              <a:rPr lang="en-IN" sz="1600" dirty="0">
                <a:latin typeface="+mn-lt"/>
              </a:rPr>
              <a:t>Webhook handling with </a:t>
            </a:r>
            <a:r>
              <a:rPr lang="en-IN" sz="1600" dirty="0" err="1">
                <a:latin typeface="+mn-lt"/>
              </a:rPr>
              <a:t>FastAPI</a:t>
            </a:r>
            <a:endParaRPr lang="en-IN" sz="1600" dirty="0">
              <a:latin typeface="+mn-lt"/>
            </a:endParaRPr>
          </a:p>
          <a:p>
            <a:br>
              <a:rPr lang="en-IN" sz="1600" dirty="0">
                <a:latin typeface="+mn-lt"/>
              </a:rPr>
            </a:br>
            <a:endParaRPr lang="en-IN" sz="1600" dirty="0">
              <a:latin typeface="+mn-lt"/>
            </a:endParaRPr>
          </a:p>
          <a:p>
            <a:r>
              <a:rPr lang="en-IN" sz="1600" b="1" dirty="0">
                <a:latin typeface="+mn-lt"/>
              </a:rPr>
              <a:t>Frontend</a:t>
            </a:r>
            <a:endParaRPr lang="en-IN" sz="1600" dirty="0">
              <a:latin typeface="+mn-lt"/>
            </a:endParaRPr>
          </a:p>
          <a:p>
            <a:pPr marL="285750" indent="-285750">
              <a:lnSpc>
                <a:spcPct val="120000"/>
              </a:lnSpc>
              <a:buFont typeface="Arial" panose="020B0604020202020204" pitchFamily="34" charset="0"/>
              <a:buChar char="•"/>
            </a:pPr>
            <a:r>
              <a:rPr lang="en-IN" sz="1600" dirty="0" err="1">
                <a:latin typeface="+mn-lt"/>
              </a:rPr>
              <a:t>ReactJs</a:t>
            </a:r>
            <a:r>
              <a:rPr lang="en-IN" sz="1600" dirty="0">
                <a:latin typeface="+mn-lt"/>
              </a:rPr>
              <a:t>, </a:t>
            </a:r>
            <a:r>
              <a:rPr lang="en-IN" sz="1600" dirty="0" err="1">
                <a:latin typeface="+mn-lt"/>
              </a:rPr>
              <a:t>TailwindCSS</a:t>
            </a:r>
            <a:r>
              <a:rPr lang="en-IN" sz="1600" dirty="0">
                <a:latin typeface="+mn-lt"/>
              </a:rPr>
              <a:t>, </a:t>
            </a:r>
          </a:p>
          <a:p>
            <a:pPr marL="285750" indent="-285750">
              <a:lnSpc>
                <a:spcPct val="120000"/>
              </a:lnSpc>
              <a:buFont typeface="Arial" panose="020B0604020202020204" pitchFamily="34" charset="0"/>
              <a:buChar char="•"/>
            </a:pPr>
            <a:r>
              <a:rPr lang="en-IN" sz="1600" dirty="0">
                <a:latin typeface="+mn-lt"/>
              </a:rPr>
              <a:t>Web Audio API for voice recording</a:t>
            </a:r>
          </a:p>
          <a:p>
            <a:pPr marL="285750" indent="-285750">
              <a:lnSpc>
                <a:spcPct val="120000"/>
              </a:lnSpc>
              <a:buFont typeface="Arial" panose="020B0604020202020204" pitchFamily="34" charset="0"/>
              <a:buChar char="•"/>
            </a:pPr>
            <a:r>
              <a:rPr lang="en-IN" sz="1600" dirty="0">
                <a:latin typeface="+mn-lt"/>
              </a:rPr>
              <a:t>Fetch API for backend communication</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88323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n-lt"/>
                <a:ea typeface="Manrope"/>
                <a:cs typeface="Manrope"/>
                <a:sym typeface="Manrope"/>
              </a:rPr>
              <a:t>Estimated implementation cost (optional): </a:t>
            </a:r>
          </a:p>
          <a:p>
            <a:pPr lvl="0">
              <a:lnSpc>
                <a:spcPct val="115000"/>
              </a:lnSpc>
              <a:spcAft>
                <a:spcPts val="1200"/>
              </a:spcAft>
              <a:buSzPts val="935"/>
            </a:pPr>
            <a:r>
              <a:rPr lang="en-IN" sz="1600" dirty="0">
                <a:latin typeface="+mn-lt"/>
              </a:rPr>
              <a:t>Project (2–3 days)                                                     Project (6–12 month)</a:t>
            </a:r>
            <a:endParaRPr lang="en-GB" sz="1700" b="1" dirty="0">
              <a:solidFill>
                <a:srgbClr val="202729"/>
              </a:solidFill>
              <a:latin typeface="+mn-lt"/>
              <a:ea typeface="Manrope"/>
              <a:cs typeface="Manrope"/>
              <a:sym typeface="Manrope"/>
            </a:endParaRPr>
          </a:p>
          <a:p>
            <a:pPr marL="0" lvl="0" indent="0" algn="l" rtl="0">
              <a:lnSpc>
                <a:spcPct val="115000"/>
              </a:lnSpc>
              <a:spcBef>
                <a:spcPts val="0"/>
              </a:spcBef>
              <a:spcAft>
                <a:spcPts val="1200"/>
              </a:spcAft>
              <a:buSzPts val="935"/>
              <a:buNone/>
            </a:pPr>
            <a:endParaRPr dirty="0">
              <a:solidFill>
                <a:srgbClr val="434343"/>
              </a:solidFill>
              <a:latin typeface="+mn-lt"/>
              <a:ea typeface="Manrope"/>
              <a:cs typeface="Manrope"/>
              <a:sym typeface="Manrope"/>
            </a:endParaRPr>
          </a:p>
        </p:txBody>
      </p:sp>
      <p:graphicFrame>
        <p:nvGraphicFramePr>
          <p:cNvPr id="2" name="Table 1">
            <a:extLst>
              <a:ext uri="{FF2B5EF4-FFF2-40B4-BE49-F238E27FC236}">
                <a16:creationId xmlns:a16="http://schemas.microsoft.com/office/drawing/2014/main" id="{ADBD6A3C-5054-45B6-66A9-B425ACAB9EA3}"/>
              </a:ext>
            </a:extLst>
          </p:cNvPr>
          <p:cNvGraphicFramePr>
            <a:graphicFrameLocks noGrp="1"/>
          </p:cNvGraphicFramePr>
          <p:nvPr>
            <p:extLst>
              <p:ext uri="{D42A27DB-BD31-4B8C-83A1-F6EECF244321}">
                <p14:modId xmlns:p14="http://schemas.microsoft.com/office/powerpoint/2010/main" val="3841957972"/>
              </p:ext>
            </p:extLst>
          </p:nvPr>
        </p:nvGraphicFramePr>
        <p:xfrm>
          <a:off x="311150" y="1793875"/>
          <a:ext cx="4580890" cy="2133600"/>
        </p:xfrm>
        <a:graphic>
          <a:graphicData uri="http://schemas.openxmlformats.org/drawingml/2006/table">
            <a:tbl>
              <a:tblPr/>
              <a:tblGrid>
                <a:gridCol w="2290445">
                  <a:extLst>
                    <a:ext uri="{9D8B030D-6E8A-4147-A177-3AD203B41FA5}">
                      <a16:colId xmlns:a16="http://schemas.microsoft.com/office/drawing/2014/main" val="1930653555"/>
                    </a:ext>
                  </a:extLst>
                </a:gridCol>
                <a:gridCol w="2290445">
                  <a:extLst>
                    <a:ext uri="{9D8B030D-6E8A-4147-A177-3AD203B41FA5}">
                      <a16:colId xmlns:a16="http://schemas.microsoft.com/office/drawing/2014/main" val="3949353826"/>
                    </a:ext>
                  </a:extLst>
                </a:gridCol>
              </a:tblGrid>
              <a:tr h="0">
                <a:tc>
                  <a:txBody>
                    <a:bodyPr/>
                    <a:lstStyle/>
                    <a:p>
                      <a:pPr>
                        <a:buNone/>
                      </a:pPr>
                      <a:r>
                        <a:rPr lang="en-IN"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Estimated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8364364"/>
                  </a:ext>
                </a:extLst>
              </a:tr>
              <a:tr h="0">
                <a:tc>
                  <a:txBody>
                    <a:bodyPr/>
                    <a:lstStyle/>
                    <a:p>
                      <a:pPr>
                        <a:buNone/>
                      </a:pPr>
                      <a:r>
                        <a:rPr lang="en-IN" dirty="0"/>
                        <a:t>Cloud Server (AWS/GCP)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₹1,000 – ₹3,000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4904442"/>
                  </a:ext>
                </a:extLst>
              </a:tr>
              <a:tr h="0">
                <a:tc>
                  <a:txBody>
                    <a:bodyPr/>
                    <a:lstStyle/>
                    <a:p>
                      <a:pPr>
                        <a:buNone/>
                      </a:pPr>
                      <a:r>
                        <a:rPr lang="en-IN" dirty="0"/>
                        <a:t>WhatsApp API (trial)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 – ₹1,500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014161"/>
                  </a:ext>
                </a:extLst>
              </a:tr>
              <a:tr h="0">
                <a:tc>
                  <a:txBody>
                    <a:bodyPr/>
                    <a:lstStyle/>
                    <a:p>
                      <a:pPr>
                        <a:buNone/>
                      </a:pPr>
                      <a:r>
                        <a:rPr lang="en-IN" dirty="0"/>
                        <a:t>Speech-to-Text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 – ₹2,000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4723139"/>
                  </a:ext>
                </a:extLst>
              </a:tr>
              <a:tr h="0">
                <a:tc>
                  <a:txBody>
                    <a:bodyPr/>
                    <a:lstStyle/>
                    <a:p>
                      <a:pPr>
                        <a:buNone/>
                      </a:pPr>
                      <a:r>
                        <a:rPr lang="en-IN" dirty="0"/>
                        <a:t>Text-to-Speech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 – ₹2,000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1742440"/>
                  </a:ext>
                </a:extLst>
              </a:tr>
              <a:tr h="0">
                <a:tc>
                  <a:txBody>
                    <a:bodyPr/>
                    <a:lstStyle/>
                    <a:p>
                      <a:pPr>
                        <a:buNone/>
                      </a:pPr>
                      <a:r>
                        <a:rPr lang="en-IN" dirty="0"/>
                        <a:t>Domain (optional)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₹500 –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3254892"/>
                  </a:ext>
                </a:extLst>
              </a:tr>
              <a:tr h="0">
                <a:tc>
                  <a:txBody>
                    <a:bodyPr/>
                    <a:lstStyle/>
                    <a:p>
                      <a:pPr>
                        <a:buNone/>
                      </a:pPr>
                      <a:r>
                        <a:rPr lang="en-IN" b="1" dirty="0"/>
                        <a:t>Total Estimated Cost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₹2,000 – ₹8,000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837425"/>
                  </a:ext>
                </a:extLst>
              </a:tr>
            </a:tbl>
          </a:graphicData>
        </a:graphic>
      </p:graphicFrame>
      <p:graphicFrame>
        <p:nvGraphicFramePr>
          <p:cNvPr id="3" name="Table 2">
            <a:extLst>
              <a:ext uri="{FF2B5EF4-FFF2-40B4-BE49-F238E27FC236}">
                <a16:creationId xmlns:a16="http://schemas.microsoft.com/office/drawing/2014/main" id="{D5B496CF-B2B2-AF19-E7DB-AD0B2E7865C9}"/>
              </a:ext>
            </a:extLst>
          </p:cNvPr>
          <p:cNvGraphicFramePr>
            <a:graphicFrameLocks noGrp="1"/>
          </p:cNvGraphicFramePr>
          <p:nvPr>
            <p:extLst>
              <p:ext uri="{D42A27DB-BD31-4B8C-83A1-F6EECF244321}">
                <p14:modId xmlns:p14="http://schemas.microsoft.com/office/powerpoint/2010/main" val="1105004472"/>
              </p:ext>
            </p:extLst>
          </p:nvPr>
        </p:nvGraphicFramePr>
        <p:xfrm>
          <a:off x="5036820" y="1793874"/>
          <a:ext cx="3795480" cy="2133600"/>
        </p:xfrm>
        <a:graphic>
          <a:graphicData uri="http://schemas.openxmlformats.org/drawingml/2006/table">
            <a:tbl>
              <a:tblPr/>
              <a:tblGrid>
                <a:gridCol w="1905070">
                  <a:extLst>
                    <a:ext uri="{9D8B030D-6E8A-4147-A177-3AD203B41FA5}">
                      <a16:colId xmlns:a16="http://schemas.microsoft.com/office/drawing/2014/main" val="1469628477"/>
                    </a:ext>
                  </a:extLst>
                </a:gridCol>
                <a:gridCol w="1890410">
                  <a:extLst>
                    <a:ext uri="{9D8B030D-6E8A-4147-A177-3AD203B41FA5}">
                      <a16:colId xmlns:a16="http://schemas.microsoft.com/office/drawing/2014/main" val="2355964662"/>
                    </a:ext>
                  </a:extLst>
                </a:gridCol>
              </a:tblGrid>
              <a:tr h="355600">
                <a:tc>
                  <a:txBody>
                    <a:bodyPr/>
                    <a:lstStyle/>
                    <a:p>
                      <a:pPr>
                        <a:buNone/>
                      </a:pPr>
                      <a:r>
                        <a:rPr lang="en-IN"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Annual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91457"/>
                  </a:ext>
                </a:extLst>
              </a:tr>
              <a:tr h="355600">
                <a:tc>
                  <a:txBody>
                    <a:bodyPr/>
                    <a:lstStyle/>
                    <a:p>
                      <a:pPr>
                        <a:buNone/>
                      </a:pPr>
                      <a:r>
                        <a:rPr lang="en-IN" dirty="0"/>
                        <a:t>Cloud Infrastructure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₹5–10 lakh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4186762"/>
                  </a:ext>
                </a:extLst>
              </a:tr>
              <a:tr h="355600">
                <a:tc>
                  <a:txBody>
                    <a:bodyPr/>
                    <a:lstStyle/>
                    <a:p>
                      <a:pPr>
                        <a:buNone/>
                      </a:pPr>
                      <a:r>
                        <a:rPr lang="en-IN" dirty="0"/>
                        <a:t>AI Model Hosting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₹3–8 lakh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5351229"/>
                  </a:ext>
                </a:extLst>
              </a:tr>
              <a:tr h="355600">
                <a:tc>
                  <a:txBody>
                    <a:bodyPr/>
                    <a:lstStyle/>
                    <a:p>
                      <a:pPr>
                        <a:buNone/>
                      </a:pPr>
                      <a:r>
                        <a:rPr lang="en-IN" dirty="0"/>
                        <a:t>WhatsApp/SMS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₹2–5 lakh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7394331"/>
                  </a:ext>
                </a:extLst>
              </a:tr>
              <a:tr h="355600">
                <a:tc>
                  <a:txBody>
                    <a:bodyPr/>
                    <a:lstStyle/>
                    <a:p>
                      <a:pPr>
                        <a:buNone/>
                      </a:pPr>
                      <a:r>
                        <a:rPr lang="en-IN" dirty="0"/>
                        <a:t>Data &amp;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₹2–4 lakh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2898622"/>
                  </a:ext>
                </a:extLst>
              </a:tr>
              <a:tr h="355600">
                <a:tc>
                  <a:txBody>
                    <a:bodyPr/>
                    <a:lstStyle/>
                    <a:p>
                      <a:pPr>
                        <a:buNone/>
                      </a:pPr>
                      <a:r>
                        <a:rPr lang="en-IN" b="1" dirty="0"/>
                        <a:t>Total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₹12–25 lakh/year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41224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183111" y="527793"/>
            <a:ext cx="8825157" cy="447283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Add as per the requirements for the hackathon:</a:t>
            </a:r>
          </a:p>
          <a:p>
            <a:r>
              <a:rPr lang="en-US" sz="1200" b="1" dirty="0"/>
              <a:t>Problem Alignment</a:t>
            </a:r>
          </a:p>
          <a:p>
            <a:pPr marL="285750" indent="-285750">
              <a:buFont typeface="Arial" panose="020B0604020202020204" pitchFamily="34" charset="0"/>
              <a:buChar char="•"/>
            </a:pPr>
            <a:r>
              <a:rPr lang="en-US" sz="1200" dirty="0"/>
              <a:t>Millions unable to access government schemes due to language &amp; digital barriers</a:t>
            </a:r>
          </a:p>
          <a:p>
            <a:pPr marL="285750" indent="-285750">
              <a:buFont typeface="Arial" panose="020B0604020202020204" pitchFamily="34" charset="0"/>
              <a:buChar char="•"/>
            </a:pPr>
            <a:r>
              <a:rPr lang="en-US" sz="1200" dirty="0"/>
              <a:t>Fragmented portals + complex eligibility processes</a:t>
            </a:r>
          </a:p>
          <a:p>
            <a:pPr marL="285750" indent="-285750">
              <a:buFont typeface="Arial" panose="020B0604020202020204" pitchFamily="34" charset="0"/>
              <a:buChar char="•"/>
            </a:pPr>
            <a:r>
              <a:rPr lang="en-US" sz="1200" dirty="0"/>
              <a:t>High dependency on middlemen in rural India</a:t>
            </a:r>
          </a:p>
          <a:p>
            <a:pPr marL="285750" indent="-285750">
              <a:buFont typeface="Arial" panose="020B0604020202020204" pitchFamily="34" charset="0"/>
              <a:buChar char="•"/>
            </a:pPr>
            <a:r>
              <a:rPr lang="en-US" sz="1200" dirty="0"/>
              <a:t>Direct impact on low-income citizens, farmers, students, elderly</a:t>
            </a:r>
          </a:p>
          <a:p>
            <a:pPr marL="285750" indent="-285750">
              <a:buFont typeface="Arial" panose="020B0604020202020204" pitchFamily="34" charset="0"/>
              <a:buChar char="•"/>
            </a:pPr>
            <a:r>
              <a:rPr lang="en-US" sz="1200" dirty="0"/>
              <a:t>Solves real Bharat-level digital inclusion gap</a:t>
            </a:r>
            <a:br>
              <a:rPr lang="en-US" sz="1200" dirty="0"/>
            </a:br>
            <a:endParaRPr lang="en-IN" dirty="0">
              <a:solidFill>
                <a:srgbClr val="434343"/>
              </a:solidFill>
              <a:latin typeface="Manrope"/>
              <a:ea typeface="Manrope"/>
              <a:cs typeface="Manrope"/>
              <a:sym typeface="Manrope"/>
            </a:endParaRPr>
          </a:p>
          <a:p>
            <a:r>
              <a:rPr lang="en-IN" sz="1200" b="1" dirty="0"/>
              <a:t>Innovation / USP</a:t>
            </a:r>
          </a:p>
          <a:p>
            <a:pPr marL="285750" indent="-285750">
              <a:buFont typeface="Arial" panose="020B0604020202020204" pitchFamily="34" charset="0"/>
              <a:buChar char="•"/>
            </a:pPr>
            <a:r>
              <a:rPr lang="en-IN" sz="1200" dirty="0"/>
              <a:t>Voice-first public service AI</a:t>
            </a:r>
          </a:p>
          <a:p>
            <a:pPr marL="285750" indent="-285750">
              <a:buFont typeface="Arial" panose="020B0604020202020204" pitchFamily="34" charset="0"/>
              <a:buChar char="•"/>
            </a:pPr>
            <a:r>
              <a:rPr lang="en-IN" sz="1200" dirty="0"/>
              <a:t>Regional language conversational support</a:t>
            </a:r>
          </a:p>
          <a:p>
            <a:pPr marL="285750" indent="-285750">
              <a:buFont typeface="Arial" panose="020B0604020202020204" pitchFamily="34" charset="0"/>
              <a:buChar char="•"/>
            </a:pPr>
            <a:r>
              <a:rPr lang="en-IN" sz="1200" dirty="0"/>
              <a:t>Personalized eligibility engine (not generic info)</a:t>
            </a:r>
          </a:p>
          <a:p>
            <a:pPr marL="285750" indent="-285750">
              <a:buFont typeface="Arial" panose="020B0604020202020204" pitchFamily="34" charset="0"/>
              <a:buChar char="•"/>
            </a:pPr>
            <a:r>
              <a:rPr lang="en-IN" sz="1200" dirty="0"/>
              <a:t>Works on low-bandwidth (WhatsApp/SMS mode)</a:t>
            </a:r>
          </a:p>
          <a:p>
            <a:pPr marL="285750" indent="-285750">
              <a:buFont typeface="Arial" panose="020B0604020202020204" pitchFamily="34" charset="0"/>
              <a:buChar char="•"/>
            </a:pPr>
            <a:r>
              <a:rPr lang="en-IN" sz="1200" dirty="0"/>
              <a:t>Serverless, cost-efficient architecture</a:t>
            </a:r>
          </a:p>
          <a:p>
            <a:endParaRPr lang="en-IN" sz="1200" dirty="0"/>
          </a:p>
          <a:p>
            <a:r>
              <a:rPr lang="en-US" sz="1200" b="1" dirty="0"/>
              <a:t>Scalability &amp; Impact</a:t>
            </a:r>
          </a:p>
          <a:p>
            <a:pPr marL="171450" indent="-171450">
              <a:buFont typeface="Arial" panose="020B0604020202020204" pitchFamily="34" charset="0"/>
              <a:buChar char="•"/>
            </a:pPr>
            <a:r>
              <a:rPr lang="en-US" sz="1200" dirty="0"/>
              <a:t>Designed for pan-India deployment</a:t>
            </a:r>
          </a:p>
          <a:p>
            <a:pPr marL="171450" indent="-171450">
              <a:buFont typeface="Arial" panose="020B0604020202020204" pitchFamily="34" charset="0"/>
              <a:buChar char="•"/>
            </a:pPr>
            <a:r>
              <a:rPr lang="en-US" sz="1200" dirty="0"/>
              <a:t>Multi-language scalable framework</a:t>
            </a:r>
          </a:p>
          <a:p>
            <a:pPr marL="171450" indent="-171450">
              <a:buFont typeface="Arial" panose="020B0604020202020204" pitchFamily="34" charset="0"/>
              <a:buChar char="•"/>
            </a:pPr>
            <a:r>
              <a:rPr lang="en-US" sz="1200" dirty="0"/>
              <a:t>Serverless infra → auto-scale to lakhs of users</a:t>
            </a:r>
          </a:p>
          <a:p>
            <a:pPr marL="171450" indent="-171450">
              <a:buFont typeface="Arial" panose="020B0604020202020204" pitchFamily="34" charset="0"/>
              <a:buChar char="•"/>
            </a:pPr>
            <a:r>
              <a:rPr lang="en-US" sz="1200" dirty="0"/>
              <a:t>Extendable to education, healthcare, jobs, subsidies</a:t>
            </a:r>
          </a:p>
          <a:p>
            <a:endParaRPr lang="en-IN" sz="1200" dirty="0"/>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06FAD91-E89F-894B-3F1C-9B2EDDB14663}"/>
            </a:ext>
          </a:extLst>
        </p:cNvPr>
        <p:cNvGrpSpPr/>
        <p:nvPr/>
      </p:nvGrpSpPr>
      <p:grpSpPr>
        <a:xfrm>
          <a:off x="0" y="0"/>
          <a:ext cx="0" cy="0"/>
          <a:chOff x="0" y="0"/>
          <a:chExt cx="0" cy="0"/>
        </a:xfrm>
      </p:grpSpPr>
      <p:pic>
        <p:nvPicPr>
          <p:cNvPr id="110" name="Google Shape;110;p22" title="Artboarddfghjk – 6.png">
            <a:extLst>
              <a:ext uri="{FF2B5EF4-FFF2-40B4-BE49-F238E27FC236}">
                <a16:creationId xmlns:a16="http://schemas.microsoft.com/office/drawing/2014/main" id="{3F663AC1-0191-9031-2F65-73FFF904757E}"/>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a:extLst>
              <a:ext uri="{FF2B5EF4-FFF2-40B4-BE49-F238E27FC236}">
                <a16:creationId xmlns:a16="http://schemas.microsoft.com/office/drawing/2014/main" id="{BEA113DD-B657-3857-E636-9D6C0CEAD208}"/>
              </a:ext>
            </a:extLst>
          </p:cNvPr>
          <p:cNvSpPr txBox="1"/>
          <p:nvPr/>
        </p:nvSpPr>
        <p:spPr>
          <a:xfrm>
            <a:off x="183111" y="527793"/>
            <a:ext cx="8825157" cy="4472831"/>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Add as per the requirements for the hackathon:</a:t>
            </a:r>
          </a:p>
          <a:p>
            <a:r>
              <a:rPr lang="en-IN" sz="1200" b="1" dirty="0"/>
              <a:t>AWS Services Used</a:t>
            </a:r>
          </a:p>
          <a:p>
            <a:pPr marL="171450" indent="-171450">
              <a:lnSpc>
                <a:spcPct val="120000"/>
              </a:lnSpc>
              <a:buFont typeface="Arial" panose="020B0604020202020204" pitchFamily="34" charset="0"/>
              <a:buChar char="•"/>
            </a:pPr>
            <a:r>
              <a:rPr lang="en-IN" sz="1200" b="1" dirty="0">
                <a:latin typeface="+mn-lt"/>
              </a:rPr>
              <a:t>Amazon API Gateway</a:t>
            </a:r>
            <a:r>
              <a:rPr lang="en-IN" sz="1200" dirty="0">
                <a:latin typeface="+mn-lt"/>
              </a:rPr>
              <a:t> – Secure API management</a:t>
            </a:r>
          </a:p>
          <a:p>
            <a:pPr marL="171450" indent="-171450">
              <a:lnSpc>
                <a:spcPct val="120000"/>
              </a:lnSpc>
              <a:buFont typeface="Arial" panose="020B0604020202020204" pitchFamily="34" charset="0"/>
              <a:buChar char="•"/>
            </a:pPr>
            <a:r>
              <a:rPr lang="en-IN" sz="1200" b="1" dirty="0">
                <a:latin typeface="+mn-lt"/>
              </a:rPr>
              <a:t>Amazon DynamoDB</a:t>
            </a:r>
            <a:r>
              <a:rPr lang="en-IN" sz="1200" dirty="0">
                <a:latin typeface="+mn-lt"/>
              </a:rPr>
              <a:t> – Scheme rules &amp; user session storage</a:t>
            </a:r>
          </a:p>
          <a:p>
            <a:pPr marL="171450" indent="-171450">
              <a:lnSpc>
                <a:spcPct val="120000"/>
              </a:lnSpc>
              <a:buFont typeface="Arial" panose="020B0604020202020204" pitchFamily="34" charset="0"/>
              <a:buChar char="•"/>
            </a:pPr>
            <a:r>
              <a:rPr lang="en-IN" sz="1200" b="1" dirty="0">
                <a:latin typeface="+mn-lt"/>
              </a:rPr>
              <a:t>Amazon Bedrock / SageMaker</a:t>
            </a:r>
            <a:r>
              <a:rPr lang="en-IN" sz="1200" dirty="0">
                <a:latin typeface="+mn-lt"/>
              </a:rPr>
              <a:t> – AI model integration</a:t>
            </a:r>
          </a:p>
          <a:p>
            <a:pPr marL="171450" indent="-171450">
              <a:lnSpc>
                <a:spcPct val="120000"/>
              </a:lnSpc>
              <a:buFont typeface="Arial" panose="020B0604020202020204" pitchFamily="34" charset="0"/>
              <a:buChar char="•"/>
            </a:pPr>
            <a:r>
              <a:rPr lang="en-IN" sz="1200" b="1" dirty="0">
                <a:latin typeface="+mn-lt"/>
              </a:rPr>
              <a:t>Amazon CloudWatch</a:t>
            </a:r>
            <a:r>
              <a:rPr lang="en-IN" sz="1200" dirty="0">
                <a:latin typeface="+mn-lt"/>
              </a:rPr>
              <a:t> – Monitoring &amp; analytics</a:t>
            </a:r>
            <a:br>
              <a:rPr lang="en-US" sz="1200" dirty="0">
                <a:latin typeface="+mn-lt"/>
              </a:rPr>
            </a:br>
            <a:endParaRPr lang="en-IN" dirty="0">
              <a:solidFill>
                <a:srgbClr val="434343"/>
              </a:solidFill>
              <a:latin typeface="+mn-lt"/>
              <a:ea typeface="Manrope"/>
              <a:cs typeface="Manrope"/>
              <a:sym typeface="Manrope"/>
            </a:endParaRPr>
          </a:p>
          <a:p>
            <a:r>
              <a:rPr lang="en-IN" sz="1200" b="1" dirty="0"/>
              <a:t>Feasibility &amp; Implementation Plan</a:t>
            </a:r>
          </a:p>
          <a:p>
            <a:pPr marL="171450" indent="-171450">
              <a:lnSpc>
                <a:spcPct val="120000"/>
              </a:lnSpc>
              <a:buFont typeface="Arial" panose="020B0604020202020204" pitchFamily="34" charset="0"/>
              <a:buChar char="•"/>
            </a:pPr>
            <a:r>
              <a:rPr lang="en-IN" sz="1200" dirty="0"/>
              <a:t>Modular microservice-based architecture</a:t>
            </a:r>
          </a:p>
          <a:p>
            <a:pPr marL="171450" indent="-171450">
              <a:lnSpc>
                <a:spcPct val="120000"/>
              </a:lnSpc>
              <a:buFont typeface="Arial" panose="020B0604020202020204" pitchFamily="34" charset="0"/>
              <a:buChar char="•"/>
            </a:pPr>
            <a:r>
              <a:rPr lang="en-IN" sz="1200" dirty="0"/>
              <a:t>MVP buildable in hackathon timeline</a:t>
            </a:r>
          </a:p>
          <a:p>
            <a:pPr marL="171450" indent="-171450">
              <a:lnSpc>
                <a:spcPct val="120000"/>
              </a:lnSpc>
              <a:buFont typeface="Arial" panose="020B0604020202020204" pitchFamily="34" charset="0"/>
              <a:buChar char="•"/>
            </a:pPr>
            <a:r>
              <a:rPr lang="en-IN" sz="1200" dirty="0"/>
              <a:t>Core focus: Voice → Eligibility → Guidance</a:t>
            </a:r>
          </a:p>
          <a:p>
            <a:pPr marL="171450" indent="-171450">
              <a:lnSpc>
                <a:spcPct val="120000"/>
              </a:lnSpc>
              <a:buFont typeface="Arial" panose="020B0604020202020204" pitchFamily="34" charset="0"/>
              <a:buChar char="•"/>
            </a:pPr>
            <a:r>
              <a:rPr lang="en-IN" sz="1200" dirty="0"/>
              <a:t>Easily extensible for future integrations</a:t>
            </a:r>
          </a:p>
          <a:p>
            <a:endParaRPr lang="en-IN" sz="1200" dirty="0"/>
          </a:p>
          <a:p>
            <a:r>
              <a:rPr lang="en-US" sz="1200" b="1" dirty="0"/>
              <a:t>Social / Business Impact</a:t>
            </a:r>
          </a:p>
          <a:p>
            <a:pPr marL="171450" indent="-171450">
              <a:lnSpc>
                <a:spcPct val="120000"/>
              </a:lnSpc>
              <a:buFont typeface="Arial" panose="020B0604020202020204" pitchFamily="34" charset="0"/>
              <a:buChar char="•"/>
            </a:pPr>
            <a:r>
              <a:rPr lang="en-US" sz="1200" dirty="0"/>
              <a:t>Reduces middleman dependency</a:t>
            </a:r>
          </a:p>
          <a:p>
            <a:pPr marL="171450" indent="-171450">
              <a:lnSpc>
                <a:spcPct val="120000"/>
              </a:lnSpc>
              <a:buFont typeface="Arial" panose="020B0604020202020204" pitchFamily="34" charset="0"/>
              <a:buChar char="•"/>
            </a:pPr>
            <a:r>
              <a:rPr lang="en-US" sz="1200" dirty="0"/>
              <a:t>Saves time &amp; application errors</a:t>
            </a:r>
          </a:p>
          <a:p>
            <a:pPr marL="171450" indent="-171450">
              <a:lnSpc>
                <a:spcPct val="120000"/>
              </a:lnSpc>
              <a:buFont typeface="Arial" panose="020B0604020202020204" pitchFamily="34" charset="0"/>
              <a:buChar char="•"/>
            </a:pPr>
            <a:r>
              <a:rPr lang="en-US" sz="1200" dirty="0"/>
              <a:t>Improves scheme access rate</a:t>
            </a:r>
          </a:p>
          <a:p>
            <a:pPr marL="171450" indent="-171450">
              <a:lnSpc>
                <a:spcPct val="120000"/>
              </a:lnSpc>
              <a:buFont typeface="Arial" panose="020B0604020202020204" pitchFamily="34" charset="0"/>
              <a:buChar char="•"/>
            </a:pPr>
            <a:r>
              <a:rPr lang="en-US" sz="1200" dirty="0"/>
              <a:t>Promotes digital inclusion in Bharat</a:t>
            </a:r>
          </a:p>
          <a:p>
            <a:pPr marL="171450" indent="-171450">
              <a:lnSpc>
                <a:spcPct val="120000"/>
              </a:lnSpc>
              <a:buFont typeface="Arial" panose="020B0604020202020204" pitchFamily="34" charset="0"/>
              <a:buChar char="•"/>
            </a:pPr>
            <a:r>
              <a:rPr lang="en-US" sz="1200" dirty="0"/>
              <a:t>Strengthens trust in public systems</a:t>
            </a:r>
          </a:p>
          <a:p>
            <a:pPr marL="171450" indent="-171450">
              <a:buFont typeface="Arial" panose="020B0604020202020204" pitchFamily="34" charset="0"/>
              <a:buChar char="•"/>
            </a:pPr>
            <a:endParaRPr lang="en-US" sz="1200" dirty="0"/>
          </a:p>
          <a:p>
            <a:r>
              <a:rPr lang="en-US" sz="1200" b="1" dirty="0"/>
              <a:t>Future Scope</a:t>
            </a:r>
          </a:p>
          <a:p>
            <a:pPr marL="171450" indent="-171450">
              <a:lnSpc>
                <a:spcPct val="120000"/>
              </a:lnSpc>
              <a:buFont typeface="Arial" panose="020B0604020202020204" pitchFamily="34" charset="0"/>
              <a:buChar char="•"/>
            </a:pPr>
            <a:r>
              <a:rPr lang="en-US" sz="1200" dirty="0"/>
              <a:t>More regional languages</a:t>
            </a:r>
          </a:p>
          <a:p>
            <a:pPr marL="171450" indent="-171450">
              <a:lnSpc>
                <a:spcPct val="120000"/>
              </a:lnSpc>
              <a:buFont typeface="Arial" panose="020B0604020202020204" pitchFamily="34" charset="0"/>
              <a:buChar char="•"/>
            </a:pPr>
            <a:r>
              <a:rPr lang="en-US" sz="1200" dirty="0"/>
              <a:t>Full mobile app</a:t>
            </a:r>
          </a:p>
          <a:p>
            <a:pPr marL="171450" indent="-171450">
              <a:lnSpc>
                <a:spcPct val="120000"/>
              </a:lnSpc>
              <a:buFont typeface="Arial" panose="020B0604020202020204" pitchFamily="34" charset="0"/>
              <a:buChar char="•"/>
            </a:pPr>
            <a:r>
              <a:rPr lang="en-US" sz="1200" dirty="0"/>
              <a:t>Government API integrations</a:t>
            </a:r>
          </a:p>
          <a:p>
            <a:pPr marL="171450" indent="-171450">
              <a:lnSpc>
                <a:spcPct val="120000"/>
              </a:lnSpc>
              <a:buFont typeface="Arial" panose="020B0604020202020204" pitchFamily="34" charset="0"/>
              <a:buChar char="•"/>
            </a:pPr>
            <a:r>
              <a:rPr lang="en-US" sz="1200" dirty="0"/>
              <a:t>Predictive eligibility alerts</a:t>
            </a:r>
          </a:p>
          <a:p>
            <a:pPr marL="171450" indent="-171450">
              <a:lnSpc>
                <a:spcPct val="120000"/>
              </a:lnSpc>
              <a:buFont typeface="Arial" panose="020B0604020202020204" pitchFamily="34" charset="0"/>
              <a:buChar char="•"/>
            </a:pPr>
            <a:r>
              <a:rPr lang="en-US" sz="1200" dirty="0"/>
              <a:t>Public analytics dashboard</a:t>
            </a:r>
          </a:p>
          <a:p>
            <a:pPr marL="171450" indent="-171450">
              <a:lnSpc>
                <a:spcPct val="120000"/>
              </a:lnSpc>
              <a:buFont typeface="Arial" panose="020B0604020202020204" pitchFamily="34" charset="0"/>
              <a:buChar char="•"/>
            </a:pPr>
            <a:r>
              <a:rPr lang="en-US" sz="1200" dirty="0"/>
              <a:t>Expansion to enterprise civic platforms</a:t>
            </a:r>
          </a:p>
          <a:p>
            <a:pPr marL="171450" indent="-171450">
              <a:buFont typeface="Arial" panose="020B0604020202020204" pitchFamily="34" charset="0"/>
              <a:buChar char="•"/>
            </a:pPr>
            <a:endParaRPr lang="en-US" sz="1200" dirty="0"/>
          </a:p>
          <a:p>
            <a:endParaRPr lang="en-IN" sz="1200" dirty="0"/>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extLst>
      <p:ext uri="{BB962C8B-B14F-4D97-AF65-F5344CB8AC3E}">
        <p14:creationId xmlns:p14="http://schemas.microsoft.com/office/powerpoint/2010/main" val="249660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1056</Words>
  <Application>Microsoft Office PowerPoint</Application>
  <PresentationFormat>On-screen Show (16:9)</PresentationFormat>
  <Paragraphs>146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Manrope</vt:lpstr>
      <vt:lpstr>Arial</vt:lpstr>
      <vt:lpstr>Manrope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VARUN VANGARI</dc:creator>
  <cp:lastModifiedBy>VARUN VANGARI</cp:lastModifiedBy>
  <cp:revision>4</cp:revision>
  <dcterms:modified xsi:type="dcterms:W3CDTF">2026-02-15T18:22:57Z</dcterms:modified>
</cp:coreProperties>
</file>